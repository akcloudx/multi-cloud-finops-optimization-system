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88" r:id="rId2"/>
    <p:sldMasterId id="2147483676" r:id="rId3"/>
  </p:sldMasterIdLst>
  <p:notesMasterIdLst>
    <p:notesMasterId r:id="rId19"/>
  </p:notesMasterIdLst>
  <p:sldIdLst>
    <p:sldId id="289" r:id="rId4"/>
    <p:sldId id="387" r:id="rId5"/>
    <p:sldId id="404" r:id="rId6"/>
    <p:sldId id="388" r:id="rId7"/>
    <p:sldId id="409" r:id="rId8"/>
    <p:sldId id="364" r:id="rId9"/>
    <p:sldId id="390" r:id="rId10"/>
    <p:sldId id="389" r:id="rId11"/>
    <p:sldId id="365" r:id="rId12"/>
    <p:sldId id="405" r:id="rId13"/>
    <p:sldId id="406" r:id="rId14"/>
    <p:sldId id="407" r:id="rId15"/>
    <p:sldId id="408" r:id="rId16"/>
    <p:sldId id="367" r:id="rId17"/>
    <p:sldId id="259" r:id="rId18"/>
  </p:sldIdLst>
  <p:sldSz cx="12192000" cy="6858000"/>
  <p:notesSz cx="6858000" cy="9144000"/>
  <p:embeddedFontLst>
    <p:embeddedFont>
      <p:font typeface="Montserrat Bold" panose="020B0604020202020204" charset="0"/>
      <p:bold r:id="rId20"/>
    </p:embeddedFont>
    <p:embeddedFont>
      <p:font typeface="Montserrat Light" panose="00000400000000000000" pitchFamily="2" charset="0"/>
      <p:regular r:id="rId21"/>
      <p:italic r:id="rId22"/>
    </p:embeddedFont>
    <p:embeddedFont>
      <p:font typeface="Roboto Slab" pitchFamily="2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 varScale="1">
        <p:scale>
          <a:sx n="111" d="100"/>
          <a:sy n="111" d="100"/>
        </p:scale>
        <p:origin x="21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3EF3-0F9B-4425-BB72-0BEB5267ED2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CEAAA-9FE9-4C0D-9328-5899C37F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0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88"/>
          <a:stretch/>
        </p:blipFill>
        <p:spPr>
          <a:xfrm>
            <a:off x="420808" y="423775"/>
            <a:ext cx="2760542" cy="78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12000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72"/>
          <a:stretch/>
        </p:blipFill>
        <p:spPr>
          <a:xfrm>
            <a:off x="400639" y="379813"/>
            <a:ext cx="2444161" cy="69333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D1A7F-7373-3869-7B19-D11B9720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475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9954A08-F531-4BFB-B155-FB6526D1B190}" type="datetime3">
              <a:rPr lang="en-US" smtClean="0"/>
              <a:t>25 July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8AE685-7A90-7A5D-4D8F-1CB8728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B887BD-4322-C2D5-FA8B-30CE46F75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4023" y="6382785"/>
            <a:ext cx="58117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8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6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9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08DDE-145F-4074-80B9-92A82F6FAE3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7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24537-D8D1-48D3-974C-5042DA3C845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51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68FF8-54C7-4DF9-8A67-F38E3581107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44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75388-B0D9-4736-A094-62A2D51967A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81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D490C-FF0D-4F46-8C01-08A44D82182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6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181D73-72B9-4F40-AAB3-13A26D71003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9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EB386-C260-4244-9F22-71C5BEEAC684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018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F87C7D-74E9-46ED-A87F-311C55ECC35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546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AC6E1-8710-4FFE-A2E3-E9AEBE0B5C2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05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1E83-6A45-4B5F-90DA-DAF1AA28FCE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90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2987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AC64-A4F1-1B8A-0AC6-4786A9B9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1F2B5-8413-5EB3-B83E-FB8357100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85EC-A9B6-5923-ED6D-895F6E8C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62C6-8A70-432E-A122-162871335AD1}" type="datetime3">
              <a:rPr lang="en-US" smtClean="0"/>
              <a:t>25 July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7944-D37B-7872-0157-363B93FA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B8F9D-BD9A-C814-1FC1-B509D261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75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B3BE-F57D-DA7E-5851-6DA98294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19E7-1597-B027-1498-94C3B6A0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EB0F-2E52-724D-9781-0E75933C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1BE-ECC1-48F5-8723-A0461878BE14}" type="datetime3">
              <a:rPr lang="en-US" smtClean="0"/>
              <a:t>25 July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74792-13F4-3FF3-4F7A-8EED062B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60C60-0F54-2F6B-2CEE-9E0E0156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59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984D-EBB1-09FC-80CF-76E77B0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24C25-3780-0A64-BC51-7E73C81F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4AC3-B0FD-3951-035E-D08C4C90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8A72-2DDC-4F0C-A767-031A00DA58F0}" type="datetime3">
              <a:rPr lang="en-US" smtClean="0"/>
              <a:t>25 July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F70A-B226-43F3-56D5-B4DDFE43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E0301-4A22-9AA8-709D-332E1C90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64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3474-1720-0F74-B17B-E84FC50C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5A8F-9597-F873-5200-2938A5DCD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D42FB-4CF6-A56B-4859-4B6AFA300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27CD2-F085-A433-6B21-C4760E9C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CC46-76C0-4E18-84BB-05A13C50C19C}" type="datetime3">
              <a:rPr lang="en-US" smtClean="0"/>
              <a:t>25 July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70E5-5BAD-34BF-D5D7-3563FEF9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492B8-D262-2FDF-B614-AB43A7AE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394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B646-8096-67E5-4529-BDB03D9A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AA4A-47B0-B186-D66C-512D48A5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F622B-39F0-438B-DE66-A663E1714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4984E-0678-0232-E59D-C531B6EB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725E2-31E5-81AE-22CD-2CF48F4BC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A57D5-B59F-AA5C-531D-FDF65C10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DFB99-E076-4686-8771-D9C9ED280317}" type="datetime3">
              <a:rPr lang="en-US" smtClean="0"/>
              <a:t>25 July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48A68-6C29-6841-3EA0-D2476881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F046F-B9C5-2135-5E78-55B99B64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873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2CE-8E63-DE47-926A-2806046A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8DACC-A9CF-25B8-FADB-EF71DAB0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C4A86-EE5E-430A-B201-DD153C1D7118}" type="datetime3">
              <a:rPr lang="en-US" smtClean="0"/>
              <a:t>25 July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3D948-3FD6-54EB-FA88-0A79DFDE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2A27F-E85E-D7BE-820F-5D7F4EA3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177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4A645-4076-0DD1-F21F-7DA2E7DB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3B7A-C703-449C-9BCB-CEBE69179CE9}" type="datetime3">
              <a:rPr lang="en-US" smtClean="0"/>
              <a:t>25 July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96299-65B8-236C-5185-326DF628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C14A8-2899-01EE-55FF-D21207C4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76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89C4-3A76-6231-0EB8-B7C0DF9B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766E-B614-6E76-EE88-55095546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8D78-1D4B-6D37-81ED-B8EA60969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9C743-95E7-DA77-7E6B-91D4BDC2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A2E3-21D6-49A4-B7BE-5081A6C2E030}" type="datetime3">
              <a:rPr lang="en-US" smtClean="0"/>
              <a:t>25 July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D41F0-E639-1C42-61E6-67955F56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F771-7E4C-27D5-A567-4DF5D5BF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11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586A-A7F3-4A9F-305E-21667DA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AD13B-C499-3285-F0C2-B5D8500EB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7E8D0-3A04-7DF5-1548-144A954F0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7146-77A6-BBD1-81B6-2FBA1D87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6AB8-E909-429F-ABE1-7FDF375A8A24}" type="datetime3">
              <a:rPr lang="en-US" smtClean="0"/>
              <a:t>25 July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01874-D9CC-80C3-6645-94CF4362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ACB1A-E2BD-5A9B-ACEB-ACE55378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51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48CF-E4AA-AE25-988E-9AF6DED0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E07B0-B5FB-7F01-D1C7-8FD401701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F934E-37C1-DF05-2785-927F20E5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A0AB-A797-49F1-91CA-409B68B2BAD3}" type="datetime3">
              <a:rPr lang="en-US" smtClean="0"/>
              <a:t>25 July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E886-8046-0491-18E0-C7DA4996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E8017-6C16-A82D-097D-82855570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37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A64DB-7E8E-77AA-AABA-01287D38E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38464-7BCC-168D-22E1-3396237C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F9B8F-0D16-DFC3-1252-12480851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4285-B41F-4602-8FE6-74B6B1A68E7C}" type="datetime3">
              <a:rPr lang="en-US" smtClean="0"/>
              <a:t>25 July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1CA6E-6281-CC49-2B16-DD159250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7C1-2CA7-5D69-31E0-2E3ED2E1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07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preserve="1" userDrawn="1">
  <p:cSld name="2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285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7788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362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0CCA17-D100-45DE-A2F3-E686E13D44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39" y="16774"/>
            <a:ext cx="2577673" cy="6873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719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31680" y="1534"/>
            <a:ext cx="2566262" cy="684266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50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7879" y="32014"/>
            <a:ext cx="2407921" cy="642113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261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40" y="32014"/>
            <a:ext cx="2608152" cy="695508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26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Main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www.websitename.com"/>
          <p:cNvSpPr txBox="1">
            <a:spLocks noGrp="1"/>
          </p:cNvSpPr>
          <p:nvPr>
            <p:ph type="body" sz="quarter" idx="13"/>
          </p:nvPr>
        </p:nvSpPr>
        <p:spPr>
          <a:xfrm rot="16200000">
            <a:off x="11153149" y="3366675"/>
            <a:ext cx="144270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6A6E7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www.websitename.com</a:t>
            </a:r>
          </a:p>
        </p:txBody>
      </p:sp>
      <p:sp>
        <p:nvSpPr>
          <p:cNvPr id="32" name="uplock"/>
          <p:cNvSpPr txBox="1">
            <a:spLocks noGrp="1"/>
          </p:cNvSpPr>
          <p:nvPr>
            <p:ph type="body" sz="quarter" idx="14"/>
          </p:nvPr>
        </p:nvSpPr>
        <p:spPr>
          <a:xfrm rot="16200000">
            <a:off x="-30351" y="3342438"/>
            <a:ext cx="695703" cy="1731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1250">
                <a:solidFill>
                  <a:srgbClr val="1C1F25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uplock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07421" y="6476735"/>
            <a:ext cx="147397" cy="1397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1CFBFE9-716E-4CC4-9BA2-ADF2F90D642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33909" y="1"/>
            <a:ext cx="273169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000"/>
            </a:lvl1pPr>
          </a:lstStyle>
          <a:p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405285025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280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287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userDrawn="1">
  <p:cSld name="3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1468A9-DCD9-466F-99E8-72F5C99304C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D3BC5-34EF-44B2-83AC-D5533E46F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41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BC2F2-4D2A-A620-8B97-4370377B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21170-226C-1291-214E-AA69A4A82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C54E-B23E-83D9-219D-3E94E86A8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B8086-8CEF-4375-ABEF-185B80135AEB}" type="datetime3">
              <a:rPr lang="en-US" smtClean="0"/>
              <a:t>25 July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31A5-9A34-06DF-31F6-C0E8F5A8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A8EB8-6738-EBF2-0CE3-80E7244AE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9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75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39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383" y="1899380"/>
            <a:ext cx="5905501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3200" b="1" dirty="0">
                <a:cs typeface="Arial" panose="020B0604020202020204" pitchFamily="34" charset="0"/>
              </a:rPr>
              <a:t>Multi-Cloud FinOps Optimization System</a:t>
            </a:r>
            <a:br>
              <a:rPr lang="en-US" sz="3200" b="1" dirty="0">
                <a:cs typeface="Arial" panose="020B0604020202020204" pitchFamily="34" charset="0"/>
              </a:rPr>
            </a:br>
            <a:r>
              <a:rPr lang="en-US" sz="2000" dirty="0">
                <a:cs typeface="Arial" panose="020B0604020202020204" pitchFamily="34" charset="0"/>
              </a:rPr>
              <a:t>Proposal Presentation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2915884"/>
            <a:ext cx="5905500" cy="2232346"/>
          </a:xfrm>
        </p:spPr>
        <p:txBody>
          <a:bodyPr>
            <a:no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Name: Aakif Shaikh</a:t>
            </a:r>
          </a:p>
          <a:p>
            <a:pPr algn="r"/>
            <a:endParaRPr lang="en-US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r"/>
            <a:r>
              <a:rPr lang="en-US" sz="1800" dirty="0">
                <a:solidFill>
                  <a:schemeClr val="bg1"/>
                </a:solidFill>
                <a:cs typeface="Arial" panose="020B0604020202020204" pitchFamily="34" charset="0"/>
              </a:rPr>
              <a:t>Program: M.Sc. in Cloud Architecture and Security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  <a:cs typeface="Arial" panose="020B0604020202020204" pitchFamily="34" charset="0"/>
              </a:rPr>
              <a:t>Batch: CAS04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  <a:cs typeface="Arial" panose="020B0604020202020204" pitchFamily="34" charset="0"/>
              </a:rPr>
              <a:t>SRN: R24DI005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  <a:cs typeface="Arial" panose="020B0604020202020204" pitchFamily="34" charset="0"/>
              </a:rPr>
              <a:t>Date: 19/07/2026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  <a:cs typeface="Arial" panose="020B0604020202020204" pitchFamily="34" charset="0"/>
              </a:rPr>
              <a:t>Capstone 1</a:t>
            </a:r>
            <a:endParaRPr lang="en-US" sz="1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dirty="0">
                <a:solidFill>
                  <a:prstClr val="white"/>
                </a:solidFill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race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316049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 Slab"/>
                <a:ea typeface="+mj-ea"/>
                <a:cs typeface="+mj-cs"/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381903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778325" y="1413882"/>
            <a:ext cx="3684148" cy="716410"/>
            <a:chOff x="1848112" y="1575921"/>
            <a:chExt cx="5288092" cy="781718"/>
          </a:xfrm>
        </p:grpSpPr>
        <p:sp>
          <p:nvSpPr>
            <p:cNvPr id="10" name="TextBox 9"/>
            <p:cNvSpPr txBox="1"/>
            <p:nvPr/>
          </p:nvSpPr>
          <p:spPr>
            <a:xfrm>
              <a:off x="2628512" y="2088972"/>
              <a:ext cx="4507692" cy="268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Background | Current status | Why this study 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02027" y="1662793"/>
              <a:ext cx="4507692" cy="40300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Introduction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48112" y="1575921"/>
              <a:ext cx="958095" cy="57091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608162" y="2338060"/>
            <a:ext cx="5244336" cy="680781"/>
            <a:chOff x="1848112" y="1575921"/>
            <a:chExt cx="5244336" cy="6807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6F8FA6-DB08-4060-9832-77D337D2BF55}"/>
                </a:ext>
              </a:extLst>
            </p:cNvPr>
            <p:cNvSpPr txBox="1"/>
            <p:nvPr/>
          </p:nvSpPr>
          <p:spPr>
            <a:xfrm>
              <a:off x="2584756" y="2010481"/>
              <a:ext cx="45076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FZShuTi" pitchFamily="2" charset="-122"/>
                  <a:cs typeface="Arial" pitchFamily="34" charset="0"/>
                </a:rPr>
                <a:t>Seminal works | Summary | Research Gap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584756" y="1641794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Literature Review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645357" y="4211489"/>
            <a:ext cx="4493778" cy="805558"/>
            <a:chOff x="1830629" y="1575337"/>
            <a:chExt cx="5282581" cy="80555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DE46A4-1F4F-419B-85C6-1ABD9A677D50}"/>
                </a:ext>
              </a:extLst>
            </p:cNvPr>
            <p:cNvSpPr txBox="1"/>
            <p:nvPr/>
          </p:nvSpPr>
          <p:spPr>
            <a:xfrm>
              <a:off x="2605518" y="1980785"/>
              <a:ext cx="4507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Primary &amp; Secondary Objectives | Expected Outcome</a:t>
              </a:r>
            </a:p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535876" y="1642552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Project Objectives  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30629" y="1575337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04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23194" y="1551194"/>
            <a:ext cx="3715984" cy="620982"/>
            <a:chOff x="366296" y="5072998"/>
            <a:chExt cx="5339298" cy="62098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DEE4032-D811-4C99-AE03-98362C887B64}"/>
                </a:ext>
              </a:extLst>
            </p:cNvPr>
            <p:cNvGrpSpPr/>
            <p:nvPr/>
          </p:nvGrpSpPr>
          <p:grpSpPr>
            <a:xfrm>
              <a:off x="366296" y="5072998"/>
              <a:ext cx="5339298" cy="523220"/>
              <a:chOff x="1683508" y="1590033"/>
              <a:chExt cx="5339298" cy="523220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FCC804-6C1D-4C67-B274-1978635DA6F9}"/>
                  </a:ext>
                </a:extLst>
              </p:cNvPr>
              <p:cNvSpPr txBox="1"/>
              <p:nvPr/>
            </p:nvSpPr>
            <p:spPr>
              <a:xfrm>
                <a:off x="2515114" y="1626240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Project Methodology  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7AC64B-48B2-4F4F-A626-7901145018C6}"/>
                  </a:ext>
                </a:extLst>
              </p:cNvPr>
              <p:cNvSpPr txBox="1"/>
              <p:nvPr/>
            </p:nvSpPr>
            <p:spPr>
              <a:xfrm>
                <a:off x="1683508" y="1590033"/>
                <a:ext cx="958096" cy="52322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05</a:t>
                </a:r>
                <a:endPara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1228050" y="5440064"/>
              <a:ext cx="4001239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FZShuTi" pitchFamily="2" charset="-122"/>
                  <a:cs typeface="Arial" pitchFamily="34" charset="0"/>
                </a:rPr>
                <a:t>Conceptual</a:t>
              </a:r>
              <a:r>
                <a:rPr lang="en-US" sz="1050" dirty="0"/>
                <a:t> </a:t>
              </a: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FZShuTi" pitchFamily="2" charset="-122"/>
                  <a:cs typeface="Arial" pitchFamily="34" charset="0"/>
                </a:rPr>
                <a:t>Framework</a:t>
              </a:r>
              <a:r>
                <a:rPr lang="en-US" sz="1050" dirty="0"/>
                <a:t> | Research Design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423194" y="2410377"/>
            <a:ext cx="3848699" cy="676334"/>
            <a:chOff x="1848112" y="1575921"/>
            <a:chExt cx="5360890" cy="676334"/>
          </a:xfrm>
        </p:grpSpPr>
        <p:sp>
          <p:nvSpPr>
            <p:cNvPr id="26" name="TextBox 25"/>
            <p:cNvSpPr txBox="1"/>
            <p:nvPr/>
          </p:nvSpPr>
          <p:spPr>
            <a:xfrm>
              <a:off x="2701310" y="2006034"/>
              <a:ext cx="45076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45983" y="1652044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Proposed Solution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06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8162" y="3352171"/>
            <a:ext cx="5244336" cy="691368"/>
            <a:chOff x="530900" y="5058886"/>
            <a:chExt cx="5244336" cy="6913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DEE4032-D811-4C99-AE03-98362C887B64}"/>
                </a:ext>
              </a:extLst>
            </p:cNvPr>
            <p:cNvGrpSpPr/>
            <p:nvPr/>
          </p:nvGrpSpPr>
          <p:grpSpPr>
            <a:xfrm>
              <a:off x="530900" y="5058886"/>
              <a:ext cx="5244336" cy="523220"/>
              <a:chOff x="1848112" y="1575921"/>
              <a:chExt cx="5244336" cy="523220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DFCC804-6C1D-4C67-B274-1978635DA6F9}"/>
                  </a:ext>
                </a:extLst>
              </p:cNvPr>
              <p:cNvSpPr txBox="1"/>
              <p:nvPr/>
            </p:nvSpPr>
            <p:spPr>
              <a:xfrm>
                <a:off x="2584756" y="164169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Problem Statement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7AC64B-48B2-4F4F-A626-7901145018C6}"/>
                  </a:ext>
                </a:extLst>
              </p:cNvPr>
              <p:cNvSpPr txBox="1"/>
              <p:nvPr/>
            </p:nvSpPr>
            <p:spPr>
              <a:xfrm>
                <a:off x="1848112" y="1575921"/>
                <a:ext cx="958096" cy="52322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03</a:t>
                </a:r>
                <a:endPara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45" name="Rectangle 44"/>
            <p:cNvSpPr/>
            <p:nvPr/>
          </p:nvSpPr>
          <p:spPr>
            <a:xfrm>
              <a:off x="1267544" y="5496338"/>
              <a:ext cx="2206053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/>
                <a:t>Technical/Functional  Problem 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330045" y="3351355"/>
            <a:ext cx="4822747" cy="696209"/>
            <a:chOff x="1801270" y="1550508"/>
            <a:chExt cx="5284794" cy="696209"/>
          </a:xfrm>
        </p:grpSpPr>
        <p:sp>
          <p:nvSpPr>
            <p:cNvPr id="51" name="TextBox 50"/>
            <p:cNvSpPr txBox="1"/>
            <p:nvPr/>
          </p:nvSpPr>
          <p:spPr>
            <a:xfrm>
              <a:off x="2578371" y="1600386"/>
              <a:ext cx="4507693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System Requirements</a:t>
              </a:r>
            </a:p>
            <a:p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801270" y="1550508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07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423194" y="5017047"/>
            <a:ext cx="3647069" cy="802479"/>
            <a:chOff x="1848112" y="1575921"/>
            <a:chExt cx="5307517" cy="802479"/>
          </a:xfrm>
        </p:grpSpPr>
        <p:sp>
          <p:nvSpPr>
            <p:cNvPr id="54" name="TextBox 53"/>
            <p:cNvSpPr txBox="1"/>
            <p:nvPr/>
          </p:nvSpPr>
          <p:spPr>
            <a:xfrm>
              <a:off x="2647937" y="1970596"/>
              <a:ext cx="4507692" cy="407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FZShuTi" pitchFamily="2" charset="-122"/>
                  <a:cs typeface="Arial" pitchFamily="34" charset="0"/>
                </a:rPr>
                <a:t>Journal Articles | White Papers </a:t>
              </a:r>
            </a:p>
            <a:p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647936" y="1626099"/>
              <a:ext cx="450769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References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09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98BC4-8BDF-A31B-7F68-4F2971CA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1AF60D-223D-461F-A92F-539B6F408AF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31472-8299-9197-981E-6E011EBDF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85CCD4-5663-6CFF-9C18-AE2E2E78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2/15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C529D0-560A-FEFD-6335-42E3C0655B40}"/>
              </a:ext>
            </a:extLst>
          </p:cNvPr>
          <p:cNvSpPr/>
          <p:nvPr/>
        </p:nvSpPr>
        <p:spPr>
          <a:xfrm>
            <a:off x="6996003" y="2803456"/>
            <a:ext cx="253146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FZShuTi" pitchFamily="2" charset="-122"/>
                <a:cs typeface="Arial" pitchFamily="34" charset="0"/>
              </a:rPr>
              <a:t>Solution</a:t>
            </a:r>
            <a:r>
              <a:rPr lang="en-US" sz="1050" dirty="0"/>
              <a:t> 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FZShuTi" pitchFamily="2" charset="-122"/>
                <a:cs typeface="Arial" pitchFamily="34" charset="0"/>
              </a:rPr>
              <a:t>Approach | Expected Outcome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F05D3DE-B7CC-FB1D-7847-24284597F488}"/>
              </a:ext>
            </a:extLst>
          </p:cNvPr>
          <p:cNvGrpSpPr/>
          <p:nvPr/>
        </p:nvGrpSpPr>
        <p:grpSpPr>
          <a:xfrm>
            <a:off x="6330045" y="4201760"/>
            <a:ext cx="4780000" cy="523220"/>
            <a:chOff x="1848112" y="1575921"/>
            <a:chExt cx="5237952" cy="52322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DAB167-98DC-B2F7-853E-1B42F25E73AE}"/>
                </a:ext>
              </a:extLst>
            </p:cNvPr>
            <p:cNvSpPr txBox="1"/>
            <p:nvPr/>
          </p:nvSpPr>
          <p:spPr>
            <a:xfrm>
              <a:off x="2578371" y="1600386"/>
              <a:ext cx="450769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Detailed Scope of Work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95E31-7CE1-DD6F-289C-98D73BD8CB72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08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1B37CAF-E4E3-C33A-2586-0B7B2095E660}"/>
              </a:ext>
            </a:extLst>
          </p:cNvPr>
          <p:cNvSpPr txBox="1"/>
          <p:nvPr/>
        </p:nvSpPr>
        <p:spPr>
          <a:xfrm>
            <a:off x="7089607" y="3787345"/>
            <a:ext cx="40737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FZShuTi" pitchFamily="2" charset="-122"/>
                <a:cs typeface="Arial" pitchFamily="34" charset="0"/>
              </a:rPr>
              <a:t>Software &amp; Hardware Architecture | Data &amp; Security Standards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3BCEE1-9CC8-55B8-5E93-EEAEA3A24DB3}"/>
              </a:ext>
            </a:extLst>
          </p:cNvPr>
          <p:cNvSpPr txBox="1"/>
          <p:nvPr/>
        </p:nvSpPr>
        <p:spPr>
          <a:xfrm>
            <a:off x="7052867" y="4607751"/>
            <a:ext cx="27114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FZShuTi" pitchFamily="2" charset="-122"/>
                <a:cs typeface="Arial" pitchFamily="34" charset="0"/>
              </a:rPr>
              <a:t>Implementation</a:t>
            </a:r>
            <a:r>
              <a:rPr lang="en-US" sz="1050" dirty="0"/>
              <a:t> 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FZShuTi" pitchFamily="2" charset="-122"/>
                <a:cs typeface="Arial" pitchFamily="34" charset="0"/>
              </a:rPr>
              <a:t>Phases</a:t>
            </a:r>
          </a:p>
        </p:txBody>
      </p:sp>
    </p:spTree>
    <p:extLst>
      <p:ext uri="{BB962C8B-B14F-4D97-AF65-F5344CB8AC3E}">
        <p14:creationId xmlns:p14="http://schemas.microsoft.com/office/powerpoint/2010/main" val="324836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96D3-98E3-678C-EA89-8D66AE53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100C11-4B98-C812-4EED-0A6F2892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Background Information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4D415-50D2-BACE-FC7F-EEB6482D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208BC-5E8C-FC54-E5BC-045927C5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/15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8FD39F-ECAA-B436-5F31-1CACD6289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D1611-AC65-377E-5E84-A129FD944162}"/>
              </a:ext>
            </a:extLst>
          </p:cNvPr>
          <p:cNvSpPr txBox="1"/>
          <p:nvPr/>
        </p:nvSpPr>
        <p:spPr>
          <a:xfrm>
            <a:off x="254475" y="1720840"/>
            <a:ext cx="116830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Background:</a:t>
            </a:r>
            <a:r>
              <a:rPr lang="en-US" dirty="0"/>
              <a:t> Modern enterprise environments deploy a strategic mix of AWS and Azure infrastructure to maximize resilience and prevent single-vendor lock-in. However, both providers natively generate billing metrics in highly nested, proprietary NoSQL-style JSON schemas with conflicting naming conventions.</a:t>
            </a:r>
          </a:p>
          <a:p>
            <a:endParaRPr lang="en-US" dirty="0"/>
          </a:p>
          <a:p>
            <a:r>
              <a:rPr lang="en-US" b="1" dirty="0"/>
              <a:t>Current Status:</a:t>
            </a:r>
            <a:r>
              <a:rPr lang="en-US" dirty="0"/>
              <a:t> Engineering and operational teams currently rely on manual data cleaning and fragmented local spreadsheets to reconcile cross-cloud utilization. Meanwhile, commercial enterprise FinOps tools remain inaccessible due to high third-party licensing fees.</a:t>
            </a:r>
          </a:p>
          <a:p>
            <a:endParaRPr lang="en-US" dirty="0"/>
          </a:p>
          <a:p>
            <a:r>
              <a:rPr lang="en-US" b="1" dirty="0"/>
              <a:t>Why This Study:</a:t>
            </a:r>
            <a:r>
              <a:rPr lang="en-US" dirty="0"/>
              <a:t> This project addresses these gaps by engineering a serverless, zero-infrastructure-cost automation utility. It dynamically flattens multi-cloud data pipelines into a unified relational schema to eliminate manual overhead and instantly expose underutilized compute commitments.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12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DE61-58C3-25BA-C95A-5D5322CF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919" y="304490"/>
            <a:ext cx="8382000" cy="670055"/>
          </a:xfrm>
        </p:spPr>
        <p:txBody>
          <a:bodyPr>
            <a:normAutofit/>
          </a:bodyPr>
          <a:lstStyle/>
          <a:p>
            <a:r>
              <a:rPr lang="en-US" altLang="ko-KR" dirty="0">
                <a:cs typeface="Arial" panose="020B0604020202020204" pitchFamily="34" charset="0"/>
              </a:rPr>
              <a:t>Literature Review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AF0E5-4D51-3DB0-2EAE-F7C3562A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3CDB30-232F-4967-8FE5-2B51CA38926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37903-95EF-8CD2-FC46-A437CEFF0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1465D7-94FF-1DC7-7AFE-2361B83C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4B56A2-97F5-1635-B7D7-35C38BA59F5D}"/>
              </a:ext>
            </a:extLst>
          </p:cNvPr>
          <p:cNvSpPr txBox="1"/>
          <p:nvPr/>
        </p:nvSpPr>
        <p:spPr>
          <a:xfrm>
            <a:off x="254475" y="1250830"/>
            <a:ext cx="11683049" cy="513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3546CD-FD01-7BAA-9698-12E375717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574492"/>
              </p:ext>
            </p:extLst>
          </p:nvPr>
        </p:nvGraphicFramePr>
        <p:xfrm>
          <a:off x="254475" y="1474977"/>
          <a:ext cx="11683049" cy="3908046"/>
        </p:xfrm>
        <a:graphic>
          <a:graphicData uri="http://schemas.openxmlformats.org/drawingml/2006/table">
            <a:tbl>
              <a:tblPr/>
              <a:tblGrid>
                <a:gridCol w="368607">
                  <a:extLst>
                    <a:ext uri="{9D8B030D-6E8A-4147-A177-3AD203B41FA5}">
                      <a16:colId xmlns:a16="http://schemas.microsoft.com/office/drawing/2014/main" val="334826868"/>
                    </a:ext>
                  </a:extLst>
                </a:gridCol>
                <a:gridCol w="3178922">
                  <a:extLst>
                    <a:ext uri="{9D8B030D-6E8A-4147-A177-3AD203B41FA5}">
                      <a16:colId xmlns:a16="http://schemas.microsoft.com/office/drawing/2014/main" val="2198030735"/>
                    </a:ext>
                  </a:extLst>
                </a:gridCol>
                <a:gridCol w="1097168">
                  <a:extLst>
                    <a:ext uri="{9D8B030D-6E8A-4147-A177-3AD203B41FA5}">
                      <a16:colId xmlns:a16="http://schemas.microsoft.com/office/drawing/2014/main" val="1213347058"/>
                    </a:ext>
                  </a:extLst>
                </a:gridCol>
                <a:gridCol w="832633">
                  <a:extLst>
                    <a:ext uri="{9D8B030D-6E8A-4147-A177-3AD203B41FA5}">
                      <a16:colId xmlns:a16="http://schemas.microsoft.com/office/drawing/2014/main" val="2420912612"/>
                    </a:ext>
                  </a:extLst>
                </a:gridCol>
                <a:gridCol w="2068573">
                  <a:extLst>
                    <a:ext uri="{9D8B030D-6E8A-4147-A177-3AD203B41FA5}">
                      <a16:colId xmlns:a16="http://schemas.microsoft.com/office/drawing/2014/main" val="514639271"/>
                    </a:ext>
                  </a:extLst>
                </a:gridCol>
                <a:gridCol w="2046890">
                  <a:extLst>
                    <a:ext uri="{9D8B030D-6E8A-4147-A177-3AD203B41FA5}">
                      <a16:colId xmlns:a16="http://schemas.microsoft.com/office/drawing/2014/main" val="1582485280"/>
                    </a:ext>
                  </a:extLst>
                </a:gridCol>
                <a:gridCol w="2090256">
                  <a:extLst>
                    <a:ext uri="{9D8B030D-6E8A-4147-A177-3AD203B41FA5}">
                      <a16:colId xmlns:a16="http://schemas.microsoft.com/office/drawing/2014/main" val="1649250528"/>
                    </a:ext>
                  </a:extLst>
                </a:gridCol>
              </a:tblGrid>
              <a:tr h="1012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No.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Title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Author and Year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Journal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Insights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Research Gaps / Comments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793143"/>
                  </a:ext>
                </a:extLst>
              </a:tr>
              <a:tr h="2025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Automated Cloud Cost Optimization: A Systematic Literature Review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M. S. de Brito, A. Hoeller, and T. M. Sucha (2023)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IEEE Access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Synthesizes existing automated cloud cost management frameworks and algorithmic optimization strategies.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Emphasizes that programmatic cost reduction prevents rate leakage better than manual tracking.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Relies heavily on high-level frameworks; lacks practical, zero-cost serverless pipelines for multi-cloud automation.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48395"/>
                  </a:ext>
                </a:extLst>
              </a:tr>
              <a:tr h="200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Governance Frameworks for Multi-Cloud and Hybrid Cloud Topographies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Dustdar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S. N. Srirama, and A. M. El-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Rify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(2022)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IEEE Cloud Computing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Evaluates unified governance layers designed to handle architectural silo challenges in multi-cloud setups.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Demonstrates that standardizing disparate vendor metrics into a single tier eliminates operational overhead.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Focuses on high-level policies without implementing unified, open data schemas (like FOCUS) for cost reporting.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03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74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F5D40-D3B0-562E-0269-8BA66B5C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8789-D6CA-92BA-55E3-6A4AD871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919" y="304490"/>
            <a:ext cx="8382000" cy="670055"/>
          </a:xfrm>
        </p:spPr>
        <p:txBody>
          <a:bodyPr>
            <a:normAutofit/>
          </a:bodyPr>
          <a:lstStyle/>
          <a:p>
            <a:r>
              <a:rPr lang="en-US" altLang="ko-KR" dirty="0">
                <a:cs typeface="Arial" panose="020B0604020202020204" pitchFamily="34" charset="0"/>
              </a:rPr>
              <a:t>Literature Review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82A0C-53AC-B2E7-2D39-93C323B7F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3CDB30-232F-4967-8FE5-2B51CA38926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49A41-8FAE-660B-B510-E468FF394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0023614-BC51-C486-160C-4CCE241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5350C-5F12-5F72-C8CD-640C74AF1FF4}"/>
              </a:ext>
            </a:extLst>
          </p:cNvPr>
          <p:cNvSpPr txBox="1"/>
          <p:nvPr/>
        </p:nvSpPr>
        <p:spPr>
          <a:xfrm>
            <a:off x="254475" y="1250830"/>
            <a:ext cx="11683049" cy="513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5EB0FC-4434-1D44-6833-830070E1F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2351"/>
              </p:ext>
            </p:extLst>
          </p:nvPr>
        </p:nvGraphicFramePr>
        <p:xfrm>
          <a:off x="254475" y="1474977"/>
          <a:ext cx="11688734" cy="3664206"/>
        </p:xfrm>
        <a:graphic>
          <a:graphicData uri="http://schemas.openxmlformats.org/drawingml/2006/table">
            <a:tbl>
              <a:tblPr/>
              <a:tblGrid>
                <a:gridCol w="374292">
                  <a:extLst>
                    <a:ext uri="{9D8B030D-6E8A-4147-A177-3AD203B41FA5}">
                      <a16:colId xmlns:a16="http://schemas.microsoft.com/office/drawing/2014/main" val="334826868"/>
                    </a:ext>
                  </a:extLst>
                </a:gridCol>
                <a:gridCol w="3178922">
                  <a:extLst>
                    <a:ext uri="{9D8B030D-6E8A-4147-A177-3AD203B41FA5}">
                      <a16:colId xmlns:a16="http://schemas.microsoft.com/office/drawing/2014/main" val="2198030735"/>
                    </a:ext>
                  </a:extLst>
                </a:gridCol>
                <a:gridCol w="1097168">
                  <a:extLst>
                    <a:ext uri="{9D8B030D-6E8A-4147-A177-3AD203B41FA5}">
                      <a16:colId xmlns:a16="http://schemas.microsoft.com/office/drawing/2014/main" val="1213347058"/>
                    </a:ext>
                  </a:extLst>
                </a:gridCol>
                <a:gridCol w="832633">
                  <a:extLst>
                    <a:ext uri="{9D8B030D-6E8A-4147-A177-3AD203B41FA5}">
                      <a16:colId xmlns:a16="http://schemas.microsoft.com/office/drawing/2014/main" val="2420912612"/>
                    </a:ext>
                  </a:extLst>
                </a:gridCol>
                <a:gridCol w="2068573">
                  <a:extLst>
                    <a:ext uri="{9D8B030D-6E8A-4147-A177-3AD203B41FA5}">
                      <a16:colId xmlns:a16="http://schemas.microsoft.com/office/drawing/2014/main" val="514639271"/>
                    </a:ext>
                  </a:extLst>
                </a:gridCol>
                <a:gridCol w="2046890">
                  <a:extLst>
                    <a:ext uri="{9D8B030D-6E8A-4147-A177-3AD203B41FA5}">
                      <a16:colId xmlns:a16="http://schemas.microsoft.com/office/drawing/2014/main" val="1582485280"/>
                    </a:ext>
                  </a:extLst>
                </a:gridCol>
                <a:gridCol w="2090256">
                  <a:extLst>
                    <a:ext uri="{9D8B030D-6E8A-4147-A177-3AD203B41FA5}">
                      <a16:colId xmlns:a16="http://schemas.microsoft.com/office/drawing/2014/main" val="1649250528"/>
                    </a:ext>
                  </a:extLst>
                </a:gridCol>
              </a:tblGrid>
              <a:tr h="1012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No.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Title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Author and Year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Journal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Insights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Research Gaps / Comments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793143"/>
                  </a:ext>
                </a:extLst>
              </a:tr>
              <a:tr h="2025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Event-Driven Serverless Architectures for Near Real-Time Infrastructure Compliance Verification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Y. Ju, V. C. M. Leung, and X. Wang (2023)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IEEE Transactions on Services Computing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Analyzes event-driven, serverless architectures used for rapid, low-cost compliance checking.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Proves that serverless routines achieve near real-time auditability without incurring idle compute costs.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Geared strictly toward security compliance; does not apply serverless execution to automated FinOps ingestion pipelines.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48395"/>
                  </a:ext>
                </a:extLst>
              </a:tr>
              <a:tr h="2003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Critical Analysis of Vendor Lock-In Strategies and Resource Lineage in Multi-Cloud Governance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J. Opara-Martins, R.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Sahandi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and F. Tian (2020)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IEEE Systems Journal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Explores resource lineage tracking to protect organizations against cloud vendor lock-in risks.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Highlights that lack of granular visibility into cross-cloud asset dependencies leads to economic waste.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Explores the problem theoretically; lacks a lightweight ETL pipeline and reactive dashboard for small-scale deployments.</a:t>
                      </a:r>
                    </a:p>
                  </a:txBody>
                  <a:tcPr marL="2202" marR="2202" marT="220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03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545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24355F-68A3-4706-9176-BEF76A3AECF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5C1CE5-FC18-6472-E8D0-FDE5A3D14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A32282-0253-0C86-D4DC-B461A5B7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A66BB-D96C-9B0B-5E51-B967970E3194}"/>
              </a:ext>
            </a:extLst>
          </p:cNvPr>
          <p:cNvSpPr txBox="1"/>
          <p:nvPr/>
        </p:nvSpPr>
        <p:spPr>
          <a:xfrm>
            <a:off x="254475" y="1305341"/>
            <a:ext cx="116830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Technical Problem</a:t>
            </a:r>
            <a:endParaRPr lang="en-US" dirty="0"/>
          </a:p>
          <a:p>
            <a:r>
              <a:rPr lang="en-US" b="1" dirty="0"/>
              <a:t>Schema Disparities &amp; Ingestion Overhead:</a:t>
            </a:r>
            <a:r>
              <a:rPr lang="en-US" dirty="0"/>
              <a:t> Cloud providers generate utilization datasets in incompatible, highly nested, proprietary NoSQL-style JSON schemas. Reconciling these without automated ETL pipelines causes immense data-cleaning overhead.</a:t>
            </a:r>
          </a:p>
          <a:p>
            <a:endParaRPr lang="en-US" b="1" dirty="0"/>
          </a:p>
          <a:p>
            <a:r>
              <a:rPr lang="en-US" b="1" dirty="0"/>
              <a:t>Architecture Cost Inflation:</a:t>
            </a:r>
            <a:r>
              <a:rPr lang="en-US" dirty="0"/>
              <a:t> Standard cloud data warehouse deployments introduce high base infrastructure and compute costs, contradicting the foundational goal of cost optimization.</a:t>
            </a:r>
          </a:p>
          <a:p>
            <a:endParaRPr lang="en-US" b="1" dirty="0"/>
          </a:p>
          <a:p>
            <a:r>
              <a:rPr lang="en-US" b="1" dirty="0"/>
              <a:t>Functional Problem</a:t>
            </a:r>
            <a:endParaRPr lang="en-US" dirty="0"/>
          </a:p>
          <a:p>
            <a:r>
              <a:rPr lang="en-US" b="1" dirty="0"/>
              <a:t>Commitment Underutilization:</a:t>
            </a:r>
            <a:r>
              <a:rPr lang="en-US" dirty="0"/>
              <a:t> Organizations lose significant cost-saving opportunities because unused cloud reservations and savings plans fail to align dynamically with active workloads.</a:t>
            </a:r>
          </a:p>
          <a:p>
            <a:endParaRPr lang="en-US" b="1" dirty="0"/>
          </a:p>
          <a:p>
            <a:r>
              <a:rPr lang="en-US" b="1" dirty="0"/>
              <a:t>Financial Rate Leakage:</a:t>
            </a:r>
            <a:r>
              <a:rPr lang="en-US" dirty="0"/>
              <a:t> The inability to map cross-cloud billing data under a unified model leads to systemic over-billing and undetected operational waste.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5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35AC63-85E2-4B0A-AE28-6C24590349A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FC11D2-400C-A9DD-49A8-4A6636086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F64B2-CAD8-04F5-3D77-1C42CEA0AB3C}"/>
              </a:ext>
            </a:extLst>
          </p:cNvPr>
          <p:cNvSpPr txBox="1"/>
          <p:nvPr/>
        </p:nvSpPr>
        <p:spPr>
          <a:xfrm>
            <a:off x="254475" y="1391074"/>
            <a:ext cx="11514192" cy="465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Objective:</a:t>
            </a:r>
            <a:r>
              <a:rPr lang="en-US" dirty="0"/>
              <a:t> To architect and deploy a secure, serverless Multi-Cloud FinOps Optimization System that automatically ingests, normalizes, and reconciles heterogeneous AWS and Azure billing datasets into a unified schema using the FOCUS framework—all running within a zero-infrastructure-cost tier.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Data Processing:</a:t>
            </a:r>
            <a:r>
              <a:rPr lang="en-US" dirty="0"/>
              <a:t> Build an event-driven ingestion pipeline using Azure Functions and Python/Pandas to eliminate manual data-cleaning and spreadsheet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Linear Commitment Matching:</a:t>
            </a:r>
            <a:r>
              <a:rPr lang="en-US" dirty="0"/>
              <a:t> Program a "Waterfall" reconciliation algorithm to systematically map active workloads against available cloud reservations and savings plans.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Dynamic Financial Projections:</a:t>
            </a:r>
            <a:r>
              <a:rPr lang="en-US" dirty="0"/>
              <a:t> Implement a "What-If" cost simulation engine and </a:t>
            </a:r>
            <a:r>
              <a:rPr lang="en-US" dirty="0" err="1"/>
              <a:t>Streamlit</a:t>
            </a:r>
            <a:r>
              <a:rPr lang="en-US" dirty="0"/>
              <a:t> dashboard to visually identify rate leakage and forecast optimization strategies.</a:t>
            </a:r>
          </a:p>
          <a:p>
            <a:endParaRPr lang="en-US" b="1" dirty="0"/>
          </a:p>
          <a:p>
            <a:r>
              <a:rPr lang="en-US" b="1" dirty="0"/>
              <a:t>Expected Outcome:</a:t>
            </a:r>
            <a:r>
              <a:rPr lang="en-US" dirty="0"/>
              <a:t> A fully automated, lightweight cloud governance utility that uncovers orphaned resources, maximizes compute commitment utilization, and significantly reduces multi-cloud operational expenditure without introducing third-party licensing fees.</a:t>
            </a:r>
          </a:p>
          <a:p>
            <a:pPr>
              <a:lnSpc>
                <a:spcPct val="300000"/>
              </a:lnSpc>
            </a:pPr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28B806-AAC6-5C82-AFDF-3E83957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12597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EC98-9F5D-57A1-359A-44EAEF3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Methodology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1F721-B5F5-098C-8F83-02B74829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998867-FC48-43F7-B725-2634657F46D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AF53-6640-9841-D930-5DC78170D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4B88E2-1C07-A91D-9717-6A06119A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CBC9C-B1CD-28A7-A852-428034C3A3C0}"/>
              </a:ext>
            </a:extLst>
          </p:cNvPr>
          <p:cNvSpPr txBox="1"/>
          <p:nvPr/>
        </p:nvSpPr>
        <p:spPr>
          <a:xfrm>
            <a:off x="254475" y="1210035"/>
            <a:ext cx="119375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Conceptual Framework &amp; Research Design:</a:t>
            </a:r>
            <a:endParaRPr lang="en-US" dirty="0"/>
          </a:p>
          <a:p>
            <a:r>
              <a:rPr lang="en-US" b="1" dirty="0"/>
              <a:t>Design Thinking Approach:</a:t>
            </a:r>
            <a:r>
              <a:rPr lang="en-US" dirty="0"/>
              <a:t> Adopts a human-centered, iterative engineering methodology tailored to eliminate operational fatigue and rate leakage for cloud engineering teams.</a:t>
            </a:r>
          </a:p>
          <a:p>
            <a:r>
              <a:rPr lang="en-US" b="1" dirty="0"/>
              <a:t>Serverless Architecture:</a:t>
            </a:r>
            <a:r>
              <a:rPr lang="en-US" dirty="0"/>
              <a:t> Utilizes a secure, zero-infrastructure-cost event-driven ingestion pipeline running on consumption tiers to ensure optimization efforts do not introduce new overhead.</a:t>
            </a:r>
          </a:p>
          <a:p>
            <a:endParaRPr lang="en-US" b="1" dirty="0"/>
          </a:p>
          <a:p>
            <a:r>
              <a:rPr lang="en-US" b="1" dirty="0"/>
              <a:t>Implementation Workflow: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Multi-Cloud Data Ingestion:</a:t>
            </a:r>
            <a:r>
              <a:rPr lang="en-US" dirty="0"/>
              <a:t> Automate the passwordless extraction of granular billing data from AWS and Azure endpoints via Azure Functions, leveraging secure OIDC and custom RBAC permissions.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ETL &amp; Data Normalization:</a:t>
            </a:r>
            <a:r>
              <a:rPr lang="en-US" dirty="0"/>
              <a:t> Execute isolated Python/Pandas transformation layers to parse, clean, and flatten deeply nested JSON cost logs directly into a unified relational schema.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Standardized Schema Alignment:</a:t>
            </a:r>
            <a:r>
              <a:rPr lang="en-US" dirty="0"/>
              <a:t> Apply the open-source FOCUS (FinOps Open Cost and Usage Specification) framework rules to map disparate vendor-specific columns to a single source of truth.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Relational Storage:</a:t>
            </a:r>
            <a:r>
              <a:rPr lang="en-US" dirty="0"/>
              <a:t> Load the normalized datasets into a secure Azure SQL Database free-tier repository for structured querying and historical durability.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Algorithmic Analytics &amp; Visualization:</a:t>
            </a:r>
            <a:r>
              <a:rPr lang="en-US" dirty="0"/>
              <a:t> Pass the relational data into a custom linear "Waterfall" reconciliation algorithm to calculate rate leakage, exposing optimization opportunities through a live </a:t>
            </a:r>
            <a:r>
              <a:rPr lang="en-US" dirty="0" err="1"/>
              <a:t>Streamlit</a:t>
            </a:r>
            <a:r>
              <a:rPr lang="en-US" dirty="0"/>
              <a:t> Community Cloud simulator dashboard.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351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Proposed Solution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A3D7D-7812-0881-D790-3DDAE3C8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0194F1-D0E0-404B-9636-4AD13125BA45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18A742-B1D7-F86D-DFA9-2A323A435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41D4B1C-6AE4-A8F2-E9FA-BC79218E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2D842-3207-A3B6-E66A-D735157D20CF}"/>
              </a:ext>
            </a:extLst>
          </p:cNvPr>
          <p:cNvSpPr txBox="1"/>
          <p:nvPr/>
        </p:nvSpPr>
        <p:spPr>
          <a:xfrm>
            <a:off x="254475" y="1177169"/>
            <a:ext cx="116830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 Approach</a:t>
            </a:r>
          </a:p>
          <a:p>
            <a:r>
              <a:rPr lang="en-US" b="1" dirty="0"/>
              <a:t>Automated Data Extraction Layer: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Secure Multi-Cloud Ingestion:</a:t>
            </a:r>
            <a:r>
              <a:rPr lang="en-US" dirty="0"/>
              <a:t> Connects directly to AWS and Azure Cost Management APIs using passwordless </a:t>
            </a:r>
            <a:r>
              <a:rPr lang="en-US" b="1" dirty="0"/>
              <a:t>OIDC Workload Identity Federation</a:t>
            </a:r>
            <a:r>
              <a:rPr lang="en-US" dirty="0"/>
              <a:t> to securely extract heterogeneous billing metrics without hardcoded credentials.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Serverless Execution:</a:t>
            </a:r>
            <a:r>
              <a:rPr lang="en-US" dirty="0"/>
              <a:t> Utilizes a Python-based script deployed on </a:t>
            </a:r>
            <a:r>
              <a:rPr lang="en-US" b="1" dirty="0"/>
              <a:t>Azure Functions (Cron Extract)</a:t>
            </a:r>
            <a:r>
              <a:rPr lang="en-US" dirty="0"/>
              <a:t> to orchestrate fully automated, scheduled data pulls at zero-baseline idle compute costs.</a:t>
            </a:r>
          </a:p>
          <a:p>
            <a:r>
              <a:rPr lang="en-US" b="1" dirty="0"/>
              <a:t>Unified Storage &amp; Data Normalization Layer: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Schema Standardization:</a:t>
            </a:r>
            <a:r>
              <a:rPr lang="en-US" dirty="0"/>
              <a:t> Transforms fragmented multi-cloud cost data into a standardized, open-source relational schema aligned with the </a:t>
            </a:r>
            <a:r>
              <a:rPr lang="en-US" b="1" dirty="0"/>
              <a:t>FOCUS</a:t>
            </a:r>
            <a:r>
              <a:rPr lang="en-US" dirty="0"/>
              <a:t> (FinOps Open Cost &amp; Usage Specification)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Relational Data Repository:</a:t>
            </a:r>
            <a:r>
              <a:rPr lang="en-US" dirty="0"/>
              <a:t> Ingests the normalized data into an </a:t>
            </a:r>
            <a:r>
              <a:rPr lang="en-US" b="1" dirty="0"/>
              <a:t>Azure SQL (Free Tier)</a:t>
            </a:r>
            <a:r>
              <a:rPr lang="en-US" dirty="0"/>
              <a:t> database organized in a high-performance Star Schema for optimized analytical queries.</a:t>
            </a:r>
          </a:p>
          <a:p>
            <a:r>
              <a:rPr lang="en-US" b="1" dirty="0"/>
              <a:t>Visualization &amp; Analytics Interface Layer: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Centralized Dashboard Operations:</a:t>
            </a:r>
            <a:r>
              <a:rPr lang="en-US" dirty="0"/>
              <a:t> Channels the unified data flow into a dedicated </a:t>
            </a:r>
            <a:r>
              <a:rPr lang="en-US" b="1" dirty="0" err="1"/>
              <a:t>Streamlit</a:t>
            </a:r>
            <a:r>
              <a:rPr lang="en-US" b="1" dirty="0"/>
              <a:t> Portal</a:t>
            </a:r>
            <a:r>
              <a:rPr lang="en-US" dirty="0"/>
              <a:t> to provide a single pane of glass for multi-cloud spend.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Granular Cost Insights:</a:t>
            </a:r>
            <a:r>
              <a:rPr lang="en-US" dirty="0"/>
              <a:t> Features interactive cost-tracking visuals and KPI metrics to instantly expose hidden rate leakages across both cloud providers.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82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1DC5-2A13-49E2-2CD0-72E7FD35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Proposed Solution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E805E-006C-3E54-181A-0DC5ADFC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54A08-F531-4BFB-B155-FB6526D1B190}" type="datetime3">
              <a:rPr lang="en-US" smtClean="0"/>
              <a:t>25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A7CFF-0287-810E-336B-0B5EEFA3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10/15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3716A-52EE-87FC-EE21-4D3DEFDA7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65452-E330-2322-780D-CFF2A5C14640}"/>
              </a:ext>
            </a:extLst>
          </p:cNvPr>
          <p:cNvSpPr txBox="1"/>
          <p:nvPr/>
        </p:nvSpPr>
        <p:spPr>
          <a:xfrm>
            <a:off x="254475" y="1311215"/>
            <a:ext cx="117621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Outcome</a:t>
            </a:r>
          </a:p>
          <a:p>
            <a:r>
              <a:rPr lang="en-US" b="1" dirty="0"/>
              <a:t>Quantifiable Cost Optimization: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Elimination of Resource Waste:</a:t>
            </a:r>
            <a:r>
              <a:rPr lang="en-US" dirty="0"/>
              <a:t> Identification and automated alerting of unallocated reservations, orphaned storage elements, and idle compute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Enhanced Savings Trajectory:</a:t>
            </a:r>
            <a:r>
              <a:rPr lang="en-US" dirty="0"/>
              <a:t> Targeted reduction in overall cloud spend by accelerating the identification of mismatches between actual usage and compute commitments.</a:t>
            </a:r>
          </a:p>
          <a:p>
            <a:r>
              <a:rPr lang="en-US" b="1" dirty="0"/>
              <a:t>Operational Efficiency &amp; Security: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Zero-Trust Compliance:</a:t>
            </a:r>
            <a:r>
              <a:rPr lang="en-US" dirty="0"/>
              <a:t> Complete mitigation of credential-leakage vulnerabilities by replacing long-lived API keys with short-lived tokenized OIDC authentication.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Zero-Infrastructure Overhead:</a:t>
            </a:r>
            <a:r>
              <a:rPr lang="en-US" dirty="0"/>
              <a:t> Maximum operational efficiency by running an entirely serverless ETL pipeline that costs nothing when idle.</a:t>
            </a:r>
          </a:p>
          <a:p>
            <a:r>
              <a:rPr lang="en-US" b="1" dirty="0"/>
              <a:t>Data Governance &amp; Strategy: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Unified Business Intelligence:</a:t>
            </a:r>
            <a:r>
              <a:rPr lang="en-US" dirty="0"/>
              <a:t> A single, standardized data schema that eliminates vendor lock-in and vendor-specific billing jargon.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Data-Driven Forecasting:</a:t>
            </a:r>
            <a:r>
              <a:rPr lang="en-US" dirty="0"/>
              <a:t> Empowered cloud administrators who can leverage automated historical trend analysis to make precise, proactive purchasing decisions for future cloud commitments.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16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F75A-2A81-EBDC-CAFE-1CC62911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Proposed Solution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ED58F-9EE8-5996-81C0-F8F58EA3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54A08-F531-4BFB-B155-FB6526D1B190}" type="datetime3">
              <a:rPr lang="en-US" smtClean="0"/>
              <a:t>25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16410-AF99-7344-5DD7-282BE655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11/15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1A045-6D63-832B-9B6F-66D68BBDF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CFC872-FA24-C97F-74F6-B20AA98F00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84" y="1397479"/>
            <a:ext cx="8413631" cy="458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56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52E4-DA23-49F3-AAAA-12E95F3E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Requirements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99F244-4C7B-9F99-B8BE-C9D1882F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54A08-F531-4BFB-B155-FB6526D1B190}" type="datetime3">
              <a:rPr lang="en-US" smtClean="0"/>
              <a:t>25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A84E-0BF0-63FC-BAF8-03DC3C3D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12/15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1BBF6-64A3-A378-12B5-8175A1E00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F2FF3-180E-7EDD-1FEB-4A55A7B43D21}"/>
              </a:ext>
            </a:extLst>
          </p:cNvPr>
          <p:cNvSpPr txBox="1"/>
          <p:nvPr/>
        </p:nvSpPr>
        <p:spPr>
          <a:xfrm>
            <a:off x="254475" y="1245986"/>
            <a:ext cx="1176212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Programming Language:</a:t>
            </a:r>
            <a:r>
              <a:rPr lang="en-US" sz="1600" dirty="0"/>
              <a:t> Python 3.10+ runtime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 Processing &amp; ETL:</a:t>
            </a:r>
            <a:r>
              <a:rPr lang="en-US" sz="1600" dirty="0"/>
              <a:t> pandas (v2.0+) for data cleaning and structural normalization; </a:t>
            </a:r>
            <a:r>
              <a:rPr lang="en-US" sz="1600" dirty="0" err="1"/>
              <a:t>numpy</a:t>
            </a:r>
            <a:r>
              <a:rPr lang="en-US" sz="1600" dirty="0"/>
              <a:t> for localized mathematical vector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Database Connectivity:</a:t>
            </a:r>
            <a:r>
              <a:rPr lang="en-US" sz="1600" dirty="0"/>
              <a:t> </a:t>
            </a:r>
            <a:r>
              <a:rPr lang="en-US" sz="1600" dirty="0" err="1"/>
              <a:t>SQLAlchemy</a:t>
            </a:r>
            <a:r>
              <a:rPr lang="en-US" sz="1600" dirty="0"/>
              <a:t> ORM layer coupled with </a:t>
            </a:r>
            <a:r>
              <a:rPr lang="en-US" sz="1600" dirty="0" err="1"/>
              <a:t>pyodbc</a:t>
            </a:r>
            <a:r>
              <a:rPr lang="en-US" sz="1600" dirty="0"/>
              <a:t> driver extensions for robust connection pooling.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Frontend Dashboard Framework:</a:t>
            </a:r>
            <a:r>
              <a:rPr lang="en-US" sz="1600" dirty="0"/>
              <a:t> </a:t>
            </a:r>
            <a:r>
              <a:rPr lang="en-US" sz="1600" b="1" dirty="0" err="1"/>
              <a:t>Streamlit</a:t>
            </a:r>
            <a:r>
              <a:rPr lang="en-US" sz="1600" b="1" dirty="0"/>
              <a:t> (v1.30+) web framework</a:t>
            </a:r>
            <a:r>
              <a:rPr lang="en-US" sz="1600" dirty="0"/>
              <a:t> utilizing native components (</a:t>
            </a:r>
            <a:r>
              <a:rPr lang="en-US" sz="1600" dirty="0" err="1"/>
              <a:t>streamlit.dataframe</a:t>
            </a:r>
            <a:r>
              <a:rPr lang="en-US" sz="1600" dirty="0"/>
              <a:t>, </a:t>
            </a:r>
            <a:r>
              <a:rPr lang="en-US" sz="1600" dirty="0" err="1"/>
              <a:t>plotly</a:t>
            </a:r>
            <a:r>
              <a:rPr lang="en-US" sz="1600" dirty="0"/>
              <a:t> charts) for local data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Cloud Infrastructure &amp; Compute Resources: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Serverless Execution Engine:</a:t>
            </a:r>
            <a:r>
              <a:rPr lang="en-US" sz="1600" dirty="0"/>
              <a:t> Azure Functions runtime (v4.x) running on a Consumption Plan (Serverless Linux/Python environment).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Relational Data Store:</a:t>
            </a:r>
            <a:r>
              <a:rPr lang="en-US" sz="1600" dirty="0"/>
              <a:t> Azure SQL Database deployed on the Serverless Compute Tier (General Purpose, Free Tier/Auto-pause enabled) configured with a Star Schema.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Target Cloud Providers:</a:t>
            </a:r>
            <a:r>
              <a:rPr lang="en-US" sz="1600" dirty="0"/>
              <a:t> Native AWS Billing/Cost Explorer API endpoints and Azure Cost Management + Billing API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Security, Identity &amp; Protocol Requirements: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Authentication Mechanism:</a:t>
            </a:r>
            <a:r>
              <a:rPr lang="en-US" sz="1600" dirty="0"/>
              <a:t> OpenID Connect (OIDC) via Azure Entra ID Workload Identity Federation linked directly to AWS IAM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Network &amp; Encryption Standards:</a:t>
            </a:r>
            <a:r>
              <a:rPr lang="en-US" sz="1600" dirty="0"/>
              <a:t> HTTPS/TLS 1.2+ for all transit API calls; AES-256 transparent data encryption (TDE) enabled on the Azure 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 Specification Standard:</a:t>
            </a:r>
            <a:r>
              <a:rPr lang="en-US" sz="1600" dirty="0"/>
              <a:t> Full structural compliance with the </a:t>
            </a:r>
            <a:r>
              <a:rPr lang="en-US" sz="1600" b="1" dirty="0"/>
              <a:t>FinOps Open Cost &amp; Usage Specification (FOCUS)</a:t>
            </a:r>
            <a:r>
              <a:rPr lang="en-US" sz="1600" dirty="0"/>
              <a:t> data model schema.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59626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65E3-B19E-D6AE-8695-AABEF97E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Scope of Work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57B20-9DA7-FC1A-823B-70CC9E83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54A08-F531-4BFB-B155-FB6526D1B190}" type="datetime3">
              <a:rPr lang="en-US" smtClean="0"/>
              <a:t>25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EDAE7-95B7-5F65-4BA6-25E1D87F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13/15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745EB-98E4-499B-06E4-A7AB8B87C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3D18B-4614-C60C-14D6-0168A235989D}"/>
              </a:ext>
            </a:extLst>
          </p:cNvPr>
          <p:cNvSpPr txBox="1"/>
          <p:nvPr/>
        </p:nvSpPr>
        <p:spPr>
          <a:xfrm>
            <a:off x="254475" y="1335249"/>
            <a:ext cx="1182250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1: Environment Provisioning &amp; Security Federation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Identity Trust Setup:</a:t>
            </a:r>
            <a:r>
              <a:rPr lang="en-US" sz="1400" dirty="0"/>
              <a:t> Establish OpenID Connect (OIDC) Workload Identity Federation between AWS IAM and Azure Entra ID to enable passwordless, keyless API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Data Warehouse Initialization:</a:t>
            </a:r>
            <a:r>
              <a:rPr lang="en-US" sz="1400" dirty="0"/>
              <a:t> Deploy the Azure SQL Database (Serverless Tier) and execute DDL scripts to build the specialized Star Schema (Fact and Dimension tables).</a:t>
            </a:r>
          </a:p>
          <a:p>
            <a:endParaRPr lang="en-US" sz="1400" b="1" dirty="0"/>
          </a:p>
          <a:p>
            <a:r>
              <a:rPr lang="en-US" sz="1400" b="1" dirty="0"/>
              <a:t>Phase 2: ETL Pipeline &amp; Ingestion Engineering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Schema Mapping Engine:</a:t>
            </a:r>
            <a:r>
              <a:rPr lang="en-US" sz="1400" dirty="0"/>
              <a:t> Develop the Python parsing components utilizing pandas to ingest and map disparate vendor billing APIs (AWS Cost Explorer &amp; Azure Cost Management) into a unified FOCUS-compliant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Data Transformation:</a:t>
            </a:r>
            <a:r>
              <a:rPr lang="en-US" sz="1400" dirty="0"/>
              <a:t> Code the mathematical validation layer to handle currency normalization, timestamp synchronization, and multi-cloud account mapping.</a:t>
            </a:r>
          </a:p>
          <a:p>
            <a:endParaRPr lang="en-US" sz="1400" b="1" dirty="0"/>
          </a:p>
          <a:p>
            <a:r>
              <a:rPr lang="en-US" sz="1400" b="1" dirty="0"/>
              <a:t>Phase 3: Serverless Deployment &amp; Automation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Function App Packaging:</a:t>
            </a:r>
            <a:r>
              <a:rPr lang="en-US" sz="1400" dirty="0"/>
              <a:t> Containerize or package the Python ETL runtime into an Azure Functions deployment package.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Orchestration Scheduling:</a:t>
            </a:r>
            <a:r>
              <a:rPr lang="en-US" sz="1400" dirty="0"/>
              <a:t> Deploy the pipeline to the Azure Functions Consumption Plan and configure automated CRON execution via </a:t>
            </a:r>
            <a:r>
              <a:rPr lang="en-US" sz="1400" dirty="0" err="1"/>
              <a:t>host.json</a:t>
            </a:r>
            <a:r>
              <a:rPr lang="en-US" sz="1400" dirty="0"/>
              <a:t> for daily automated delta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Phase 4: Dashboard Analytics &amp; Governance Testing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Streamlit</a:t>
            </a:r>
            <a:r>
              <a:rPr lang="en-US" sz="1400" b="1" dirty="0"/>
              <a:t> Interface Assembly:</a:t>
            </a:r>
            <a:r>
              <a:rPr lang="en-US" sz="1400" dirty="0"/>
              <a:t> Connect the </a:t>
            </a:r>
            <a:r>
              <a:rPr lang="en-US" sz="1400" dirty="0" err="1"/>
              <a:t>Streamlit</a:t>
            </a:r>
            <a:r>
              <a:rPr lang="en-US" sz="1400" dirty="0"/>
              <a:t> UI framework to the Azure SQL backend via </a:t>
            </a:r>
            <a:r>
              <a:rPr lang="en-US" sz="1400" dirty="0" err="1"/>
              <a:t>SQLAlchemy</a:t>
            </a:r>
            <a:r>
              <a:rPr lang="en-US" sz="1400" dirty="0"/>
              <a:t> connection pooling to display live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Reconciliation &amp; Validation Engine:</a:t>
            </a:r>
            <a:r>
              <a:rPr lang="en-US" sz="1400" dirty="0"/>
              <a:t> Execute end-to-end integration testing using a "Waterfall" reconciliation algorithm to ensure active detection of orphaned storage elements, idle compute, and rate leakages.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8539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48D1-F57F-4856-A08A-5D67181F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References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F20FC-BC77-F5DE-DCB7-5A6A844B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E65501-01B6-4480-B71B-6C4C2316D7B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July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78A14-3843-A020-E304-56CB33747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49C78A-61BA-3328-5807-3CC71FFE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14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47F53-134A-9FEA-34B3-02C0E5631F28}"/>
              </a:ext>
            </a:extLst>
          </p:cNvPr>
          <p:cNvSpPr txBox="1"/>
          <p:nvPr/>
        </p:nvSpPr>
        <p:spPr>
          <a:xfrm>
            <a:off x="254475" y="1582340"/>
            <a:ext cx="118656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[1]</a:t>
            </a:r>
            <a:r>
              <a:rPr lang="en-US" dirty="0"/>
              <a:t> M. S. de Brito, A. Hoeller, and T. M. Sucha, "Automated Cloud Cost Optimization: A Systematic Literature Review," </a:t>
            </a:r>
            <a:r>
              <a:rPr lang="en-US" i="1" dirty="0"/>
              <a:t>IEEE Access</a:t>
            </a:r>
            <a:r>
              <a:rPr lang="en-US" dirty="0"/>
              <a:t>, vol. 11, pp. 114002–114018, 2023.</a:t>
            </a:r>
          </a:p>
          <a:p>
            <a:endParaRPr lang="en-US" dirty="0"/>
          </a:p>
          <a:p>
            <a:r>
              <a:rPr lang="en-US" b="1" dirty="0"/>
              <a:t>[2]</a:t>
            </a:r>
            <a:r>
              <a:rPr lang="en-US" dirty="0"/>
              <a:t> S. </a:t>
            </a:r>
            <a:r>
              <a:rPr lang="en-US" dirty="0" err="1"/>
              <a:t>Dustdar</a:t>
            </a:r>
            <a:r>
              <a:rPr lang="en-US" dirty="0"/>
              <a:t>, S. N. Srirama, and A. M. El-</a:t>
            </a:r>
            <a:r>
              <a:rPr lang="en-US" dirty="0" err="1"/>
              <a:t>Rify</a:t>
            </a:r>
            <a:r>
              <a:rPr lang="en-US" dirty="0"/>
              <a:t>, "Governance Frameworks for Multi-Cloud and Hybrid Cloud Topographies," </a:t>
            </a:r>
            <a:r>
              <a:rPr lang="en-US" i="1" dirty="0"/>
              <a:t>IEEE Cloud Computing</a:t>
            </a:r>
            <a:r>
              <a:rPr lang="en-US" dirty="0"/>
              <a:t>, vol. 9, no. 4, pp. 22–31, 2022.</a:t>
            </a:r>
          </a:p>
          <a:p>
            <a:endParaRPr lang="en-US" dirty="0"/>
          </a:p>
          <a:p>
            <a:r>
              <a:rPr lang="en-US" b="1" dirty="0"/>
              <a:t>[3]</a:t>
            </a:r>
            <a:r>
              <a:rPr lang="en-US" dirty="0"/>
              <a:t> Y. Ju, V. C. M. Leung, and X. Wang, "Event-Driven Serverless Architectures for Near Real-Time Infrastructure Compliance Verification," </a:t>
            </a:r>
            <a:r>
              <a:rPr lang="en-US" i="1" dirty="0"/>
              <a:t>IEEE Transactions on Services Computing</a:t>
            </a:r>
            <a:r>
              <a:rPr lang="en-US" dirty="0"/>
              <a:t>, vol. 16, no. 2, pp. 845–858, 2023.</a:t>
            </a:r>
          </a:p>
          <a:p>
            <a:endParaRPr lang="en-US" dirty="0"/>
          </a:p>
          <a:p>
            <a:r>
              <a:rPr lang="en-US" b="1" dirty="0"/>
              <a:t>[4]</a:t>
            </a:r>
            <a:r>
              <a:rPr lang="en-US" dirty="0"/>
              <a:t> J. Opara-Martins, R. </a:t>
            </a:r>
            <a:r>
              <a:rPr lang="en-US" dirty="0" err="1"/>
              <a:t>Sahandi</a:t>
            </a:r>
            <a:r>
              <a:rPr lang="en-US" dirty="0"/>
              <a:t>, and F. Tian, "Critical Analysis of Vendor Lock-In Strategies and Resource Lineage in Multi-Cloud Governance," </a:t>
            </a:r>
            <a:r>
              <a:rPr lang="en-US" i="1" dirty="0"/>
              <a:t>IEEE Systems Journal</a:t>
            </a:r>
            <a:r>
              <a:rPr lang="en-US" dirty="0"/>
              <a:t>, vol. 14, no. 3, pp. 3142–3153, 2020.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45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ile:Noun Project question mark icon 1101884 cc.svg - Outreach Wik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45C07-8365-45F1-BB24-52654C8AB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97" y="2700997"/>
            <a:ext cx="2767120" cy="27092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75985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1652</TotalTime>
  <Words>2287</Words>
  <Application>Microsoft Office PowerPoint</Application>
  <PresentationFormat>Widescreen</PresentationFormat>
  <Paragraphs>218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Calibri</vt:lpstr>
      <vt:lpstr>Calibri Light</vt:lpstr>
      <vt:lpstr>Montserrat Bold</vt:lpstr>
      <vt:lpstr>Montserrat Light</vt:lpstr>
      <vt:lpstr>Arial</vt:lpstr>
      <vt:lpstr>Roboto Slab</vt:lpstr>
      <vt:lpstr>1_Office Theme</vt:lpstr>
      <vt:lpstr>Custom Design</vt:lpstr>
      <vt:lpstr>2_Office Theme</vt:lpstr>
      <vt:lpstr>Multi-Cloud FinOps Optimization System Proposal Presentation</vt:lpstr>
      <vt:lpstr>Agenda</vt:lpstr>
      <vt:lpstr>Background Information</vt:lpstr>
      <vt:lpstr>Literature Review</vt:lpstr>
      <vt:lpstr>Literature Review</vt:lpstr>
      <vt:lpstr>Problem Statement</vt:lpstr>
      <vt:lpstr>Project Objectives</vt:lpstr>
      <vt:lpstr>Project Methodology</vt:lpstr>
      <vt:lpstr>Proposed Solution</vt:lpstr>
      <vt:lpstr>Proposed Solution</vt:lpstr>
      <vt:lpstr>Proposed Solution</vt:lpstr>
      <vt:lpstr>System Requirements</vt:lpstr>
      <vt:lpstr>Detailed Scope of Work</vt:lpstr>
      <vt:lpstr>References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H2 Planning</dc:title>
  <dc:creator>RACE-996</dc:creator>
  <cp:lastModifiedBy>Aakif Shaikh</cp:lastModifiedBy>
  <cp:revision>222</cp:revision>
  <dcterms:created xsi:type="dcterms:W3CDTF">2021-01-28T08:43:53Z</dcterms:created>
  <dcterms:modified xsi:type="dcterms:W3CDTF">2026-07-25T06:03:47Z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ccf7e06-5147-4f4c-9981-523162292ad2_Enabled">
    <vt:lpwstr>true</vt:lpwstr>
  </property>
  <property fmtid="{D5CDD505-2E9C-101B-9397-08002B2CF9AE}" pid="3" name="MSIP_Label_6ccf7e06-5147-4f4c-9981-523162292ad2_SetDate">
    <vt:lpwstr>2026-07-19T11:24:30Z</vt:lpwstr>
  </property>
  <property fmtid="{D5CDD505-2E9C-101B-9397-08002B2CF9AE}" pid="4" name="MSIP_Label_6ccf7e06-5147-4f4c-9981-523162292ad2_Method">
    <vt:lpwstr>Standard</vt:lpwstr>
  </property>
  <property fmtid="{D5CDD505-2E9C-101B-9397-08002B2CF9AE}" pid="5" name="MSIP_Label_6ccf7e06-5147-4f4c-9981-523162292ad2_Name">
    <vt:lpwstr>OFFICIAL</vt:lpwstr>
  </property>
  <property fmtid="{D5CDD505-2E9C-101B-9397-08002B2CF9AE}" pid="6" name="MSIP_Label_6ccf7e06-5147-4f4c-9981-523162292ad2_SiteId">
    <vt:lpwstr>5451bf29-6e16-4b26-93b1-32a0bcf845c2</vt:lpwstr>
  </property>
  <property fmtid="{D5CDD505-2E9C-101B-9397-08002B2CF9AE}" pid="7" name="MSIP_Label_6ccf7e06-5147-4f4c-9981-523162292ad2_ActionId">
    <vt:lpwstr>a63732eb-11a8-4e1f-9b53-4d973ce52188</vt:lpwstr>
  </property>
  <property fmtid="{D5CDD505-2E9C-101B-9397-08002B2CF9AE}" pid="8" name="MSIP_Label_6ccf7e06-5147-4f4c-9981-523162292ad2_ContentBits">
    <vt:lpwstr>0</vt:lpwstr>
  </property>
  <property fmtid="{D5CDD505-2E9C-101B-9397-08002B2CF9AE}" pid="9" name="MSIP_Label_6ccf7e06-5147-4f4c-9981-523162292ad2_Tag">
    <vt:lpwstr>10, 3, 0, 1</vt:lpwstr>
  </property>
</Properties>
</file>